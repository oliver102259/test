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493776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378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Hydrogen: why the world is moving to it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37744"/>
            <a:ext cx="786384" cy="521554"/>
          </a:xfrm>
          <a:prstGeom prst="rect">
            <a:avLst/>
          </a:prstGeom>
        </p:spPr>
      </p:pic>
      <p:pic>
        <p:nvPicPr>
          <p:cNvPr id="5" name="Picture 4" descr="fig_h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10927080" cy="40235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30368"/>
            <a:ext cx="11109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latin typeface="Arial"/>
              </a:rPr>
              <a:t>Hydrogen production is ≈100 Mt per year and is still dominated by unabated fossil fuels; low-emission hydrogen from electrolysis is about 1 Mt, i.e. below 1%.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latin typeface="Arial"/>
              </a:rPr>
              <a:t>Demand is expected to grow under announced pledges, so the production route — not the molecule — is the bottleneck. Water electrolysis is the route that can be decarbonised, and its cost is set by the anode.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5B6572"/>
                </a:solidFill>
                <a:latin typeface="Arial"/>
              </a:rPr>
              <a:t>Data: IEA Global Hydrogen Review 2025 and 2026 (production shares; low-emission hydrogen; Announced Pledges Scenario).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3679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493776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378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Making hydrogen: water electrolysis and its two half-reactions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37744"/>
            <a:ext cx="786384" cy="521554"/>
          </a:xfrm>
          <a:prstGeom prst="rect">
            <a:avLst/>
          </a:prstGeom>
        </p:spPr>
      </p:pic>
      <p:pic>
        <p:nvPicPr>
          <p:cNvPr id="5" name="Picture 4" descr="fig_c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07008"/>
            <a:ext cx="4617720" cy="33206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77840" y="1298448"/>
            <a:ext cx="6035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03D7C"/>
                </a:solidFill>
                <a:latin typeface="Arial"/>
              </a:rPr>
              <a:t>Cathode (HER):   2 H₂O + 2 e⁻  →  H₂ + 2 OH⁻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801368"/>
            <a:ext cx="6035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03D7C"/>
                </a:solidFill>
                <a:latin typeface="Arial"/>
              </a:rPr>
              <a:t>Anode (OER):     2 H₂O  →  O₂ + 4 H⁺ + 4 e⁻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2395728"/>
            <a:ext cx="5989320" cy="114300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ctr"/>
            <a:r>
              <a:rPr sz="1300" b="1">
                <a:solidFill>
                  <a:srgbClr val="003D7C"/>
                </a:solidFill>
                <a:latin typeface="Arial"/>
              </a:rPr>
              <a:t>OER is the bottleneck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  <a:latin typeface="Arial"/>
              </a:rPr>
              <a:t>It moves four electrons and four protons through several intermediates, so it is kinetically slow and carries most of the cell overpotential.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3657600"/>
            <a:ext cx="5989320" cy="96012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F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ctr"/>
            <a:r>
              <a:rPr sz="1300" b="1">
                <a:solidFill>
                  <a:srgbClr val="003D7C"/>
                </a:solidFill>
                <a:latin typeface="Arial"/>
              </a:rPr>
              <a:t>Two environments, two material sets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  <a:latin typeface="Arial"/>
              </a:rPr>
              <a:t>Alkaline media allow cheap Ni, Co or Fe oxides; acidic media (PEM) require Ir or Ru oxides.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11109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latin typeface="Arial"/>
              </a:rPr>
              <a:t>Water splitting is two half-reactions; the oxygen evolution reaction at the anode limits the whole cell.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5B6572"/>
                </a:solidFill>
                <a:latin typeface="Arial"/>
              </a:rPr>
              <a:t>Panel: Chem. Soc. Rev. 2020, 49, 2196, Fig. 1 (re-rendered at high resolution).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33679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493776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378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Mechanism I: adsorbate evolution (AEM) — four steps, one limit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37744"/>
            <a:ext cx="786384" cy="521554"/>
          </a:xfrm>
          <a:prstGeom prst="rect">
            <a:avLst/>
          </a:prstGeom>
        </p:spPr>
      </p:pic>
      <p:pic>
        <p:nvPicPr>
          <p:cNvPr id="5" name="Picture 4" descr="use_aem_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3337560" cy="3108225"/>
          </a:xfrm>
          <a:prstGeom prst="rect">
            <a:avLst/>
          </a:prstGeom>
        </p:spPr>
      </p:pic>
      <p:pic>
        <p:nvPicPr>
          <p:cNvPr id="6" name="Picture 5" descr="use_energy_pa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097280"/>
            <a:ext cx="4846320" cy="42915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440680"/>
            <a:ext cx="11109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latin typeface="Arial"/>
              </a:rPr>
              <a:t>The four steps use adsorbed oxygen only (AEM-5, Fig. 3a); the free-energy path is the same four steps (CSC-4, Fig. 3a, adapted).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latin typeface="Arial"/>
              </a:rPr>
              <a:t>The *OH–*OOH scaling gap (≈3.2 eV) prevents equal step energies, so one step is always larger.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C0392B"/>
                </a:solidFill>
                <a:latin typeface="Arial"/>
              </a:rPr>
              <a:t>Result: an intrinsic floor of about 0.37 V — activity cannot be improved within AEM.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5B6572"/>
                </a:solidFill>
                <a:latin typeface="Arial"/>
              </a:rPr>
              <a:t>Adv. Energy Mater. 2023, 13, 2301951, Fig. 3a  ·  Chem. Soc. Rev. 2020, 49, 2196, Fig. 3a (adapted).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3679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493776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378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Mechanism II: lattice oxygen (LOM) — fast, but it destroys the surface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37744"/>
            <a:ext cx="786384" cy="521554"/>
          </a:xfrm>
          <a:prstGeom prst="rect">
            <a:avLst/>
          </a:prstGeom>
        </p:spPr>
      </p:pic>
      <p:pic>
        <p:nvPicPr>
          <p:cNvPr id="5" name="Picture 4" descr="use_lom_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3429000" cy="3150836"/>
          </a:xfrm>
          <a:prstGeom prst="rect">
            <a:avLst/>
          </a:prstGeom>
        </p:spPr>
      </p:pic>
      <p:pic>
        <p:nvPicPr>
          <p:cNvPr id="6" name="Picture 5" descr="fig_e_d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234440"/>
            <a:ext cx="5760720" cy="33755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440680"/>
            <a:ext cx="11109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latin typeface="Arial"/>
              </a:rPr>
              <a:t>LOM: lattice oxygen is oxidised and leaves as O₂, leaving an oxygen vacancy (Adv. Energy Mater. 2023, Fig. 3b).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latin typeface="Arial"/>
              </a:rPr>
              <a:t>It switches on when the oxygen 2p states rise above the metal–oxygen band, close to the Fermi level (Fig. 3e, Mott–Hubbard picture).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C0392B"/>
                </a:solidFill>
                <a:latin typeface="Arial"/>
              </a:rPr>
              <a:t>Consequence: a vacancy is left behind, and the metal is released with the oxygen.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5B6572"/>
                </a:solidFill>
                <a:latin typeface="Arial"/>
              </a:rPr>
              <a:t>Adv. Energy Mater. 2023, 13, 2301951, Fig. 3b and Fig. 3e.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3679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493776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378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Mechanism III: oxide path (OPM) — and COM as a related route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37744"/>
            <a:ext cx="786384" cy="521554"/>
          </a:xfrm>
          <a:prstGeom prst="rect">
            <a:avLst/>
          </a:prstGeom>
        </p:spPr>
      </p:pic>
      <p:pic>
        <p:nvPicPr>
          <p:cNvPr id="5" name="Picture 4" descr="use_opm_ste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5989320" cy="2327433"/>
          </a:xfrm>
          <a:prstGeom prst="rect">
            <a:avLst/>
          </a:prstGeom>
        </p:spPr>
      </p:pic>
      <p:pic>
        <p:nvPicPr>
          <p:cNvPr id="6" name="Picture 5" descr="use_com_cy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325880"/>
            <a:ext cx="2788920" cy="2666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440680"/>
            <a:ext cx="11109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latin typeface="Arial"/>
              </a:rPr>
              <a:t>OPM: two adjacent metal–oxo sites couple directly to O₂ — no *OOH intermediate, and no oxygen vacancy (Adv. Energy Mater. 2016, Fig. 1I).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latin typeface="Arial"/>
              </a:rPr>
              <a:t>COM (our group): light drives electron transfer to the metal, and O–O coupling occurs on the oxygen states (Adv. Energy Mater. 2023, Fig. 3f).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C0392B"/>
                </a:solidFill>
                <a:latin typeface="Arial"/>
              </a:rPr>
              <a:t>OPM keeps the surface intact while avoiding the *OOH bottleneck — this is the route we target.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5B6572"/>
                </a:solidFill>
                <a:latin typeface="Arial"/>
              </a:rPr>
              <a:t>Adv. Energy Mater. 2016, 6, 1601275, Fig. 1I  ·  Adv. Energy Mater. 2023, 13, 2301951, Fig. 3f  ·  Nature 2022, 611, 702.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3679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493776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378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Platform: acidic PEM, because that is where the durability problem is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37744"/>
            <a:ext cx="786384" cy="521554"/>
          </a:xfrm>
          <a:prstGeom prst="rect">
            <a:avLst/>
          </a:prstGeom>
        </p:spPr>
      </p:pic>
      <p:pic>
        <p:nvPicPr>
          <p:cNvPr id="5" name="Picture 4" descr="cand_pemrev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5760720" cy="35716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12280" y="1280160"/>
            <a:ext cx="4709160" cy="169164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ctr"/>
            <a:r>
              <a:rPr sz="1300" b="1">
                <a:solidFill>
                  <a:srgbClr val="003D7C"/>
                </a:solidFill>
                <a:latin typeface="Arial"/>
              </a:rPr>
              <a:t>PEM matches renewable electricity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  <a:latin typeface="Arial"/>
              </a:rPr>
              <a:t>High current density, fast response and high-purity hydrogen; the membrane is acidic, so the anode sees about 1 M proton activity (pH 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3154680"/>
            <a:ext cx="4709160" cy="178308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F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ctr"/>
            <a:r>
              <a:rPr sz="1300" b="1">
                <a:solidFill>
                  <a:srgbClr val="003D7C"/>
                </a:solidFill>
                <a:latin typeface="Arial"/>
              </a:rPr>
              <a:t>Only Ir and Ru oxides survive there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  <a:latin typeface="Arial"/>
              </a:rPr>
              <a:t>Alkaline systems can use Ni, Co or Fe oxides; in acid the choice collapses to iridium and ruthenium — and iridium is the scarcest option.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40680"/>
            <a:ext cx="11109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latin typeface="Arial"/>
              </a:rPr>
              <a:t>The anode environment decides which elements are allowed: in acid, only Ir and Ru oxides are viable.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C0392B"/>
                </a:solidFill>
                <a:latin typeface="Arial"/>
              </a:rPr>
              <a:t>So the project is defined by durability at low noble-metal loading, not by activity.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5B6572"/>
                </a:solidFill>
                <a:latin typeface="Arial"/>
              </a:rPr>
              <a:t>Panel: PEM electrolysis system review (cell schematic).  ·  Chem. Soc. Rev. 2020, 49, 2196, §4.4.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33679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493776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378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Element: ruthenium is cheap and active — but it dissolves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37744"/>
            <a:ext cx="786384" cy="521554"/>
          </a:xfrm>
          <a:prstGeom prst="rect">
            <a:avLst/>
          </a:prstGeom>
        </p:spPr>
      </p:pic>
      <p:pic>
        <p:nvPicPr>
          <p:cNvPr id="5" name="Picture 4" descr="fig_g_red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4069080" cy="40156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120640" y="1280160"/>
            <a:ext cx="6400800" cy="123444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ctr"/>
            <a:r>
              <a:rPr sz="1300" b="1">
                <a:solidFill>
                  <a:srgbClr val="003D7C"/>
                </a:solidFill>
                <a:latin typeface="Arial"/>
              </a:rPr>
              <a:t>Why Ru, not Ir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  <a:latin typeface="Arial"/>
              </a:rPr>
              <a:t>RuO₂ is more active than IrO₂ for OER, and ruthenium is far cheaper and more abundant; iridium supply is the ceiling for PEM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697480"/>
            <a:ext cx="6400800" cy="118872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E8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ctr"/>
            <a:r>
              <a:rPr sz="1300" b="1">
                <a:solidFill>
                  <a:srgbClr val="003D7C"/>
                </a:solidFill>
                <a:latin typeface="Arial"/>
              </a:rPr>
              <a:t>Failure channel 1 — over-oxidation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  <a:latin typeface="Arial"/>
              </a:rPr>
              <a:t>Ruthenium is oxidised beyond +4 to soluble RuO₄ and leaves the electrode.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4023360"/>
            <a:ext cx="6400800" cy="118872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E8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ctr"/>
            <a:r>
              <a:rPr sz="1300" b="1">
                <a:solidFill>
                  <a:srgbClr val="003D7C"/>
                </a:solidFill>
                <a:latin typeface="Arial"/>
              </a:rPr>
              <a:t>Failure channel 2 — lattice oxygen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  <a:latin typeface="Arial"/>
              </a:rPr>
              <a:t>Lattice oxygen participates (LOM), a vacancy is left behind, and the metal follows the oxygen 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40680"/>
            <a:ext cx="11109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latin typeface="Arial"/>
              </a:rPr>
              <a:t>Metal redox and oxygen redox are the two competing descriptions of the same surface; both must be controlled.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C0392B"/>
                </a:solidFill>
                <a:latin typeface="Arial"/>
              </a:rPr>
              <a:t>Ruthenium needs a stabilisation strategy, and the proof must be a dissolution measurement.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5B6572"/>
                </a:solidFill>
                <a:latin typeface="Arial"/>
              </a:rPr>
              <a:t>Adv. Energy Mater. 2023, 13, 2301951, Fig. 3g  ·  Adv. Energy Mater. 2023, 13, 2301951, §6.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33679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493776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378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Route: target OPM, keep AEM as the fallback, avoid LOM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37744"/>
            <a:ext cx="786384" cy="521554"/>
          </a:xfrm>
          <a:prstGeom prst="rect">
            <a:avLst/>
          </a:prstGeom>
        </p:spPr>
      </p:pic>
      <p:pic>
        <p:nvPicPr>
          <p:cNvPr id="5" name="Picture 4" descr="fig_c_volcan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3749039" cy="2480982"/>
          </a:xfrm>
          <a:prstGeom prst="rect">
            <a:avLst/>
          </a:prstGeom>
        </p:spPr>
      </p:pic>
      <p:pic>
        <p:nvPicPr>
          <p:cNvPr id="6" name="Picture 5" descr="fig_d_volcan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234440"/>
            <a:ext cx="3749039" cy="253313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41080" y="1234440"/>
            <a:ext cx="2880360" cy="1874519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ctr"/>
            <a:r>
              <a:rPr sz="1300" b="1">
                <a:solidFill>
                  <a:srgbClr val="003D7C"/>
                </a:solidFill>
                <a:latin typeface="Arial"/>
              </a:rPr>
              <a:t>Our ranking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  <a:latin typeface="Arial"/>
              </a:rPr>
              <a:t>1. OPM — direct O–O coupling, no vacancy.
2. AEM — safe but capped at ≈0.37 V.
3. LOM — activity at the cost of the surface: avoid.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3291840"/>
            <a:ext cx="2880360" cy="1920240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9AD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ctr"/>
            <a:r>
              <a:rPr sz="1300" b="1">
                <a:solidFill>
                  <a:srgbClr val="003D7C"/>
                </a:solidFill>
                <a:latin typeface="Arial"/>
              </a:rPr>
              <a:t>Precedent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  <a:latin typeface="Arial"/>
              </a:rPr>
              <a:t>Ru on α-MnO₂ prepared by cation exchange: 161 mV at 10 mA cm⁻², more than 200 h, oxide path mechanism, no oxygen vacancy.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40680"/>
            <a:ext cx="11109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 b="0">
                <a:solidFill>
                  <a:srgbClr val="1F2937"/>
                </a:solidFill>
                <a:latin typeface="Arial"/>
              </a:rPr>
              <a:t>Both volcano plots show the same ceiling: activity is set by the adsorption energies of the intermediates.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C0392B"/>
                </a:solidFill>
                <a:latin typeface="Arial"/>
              </a:rPr>
              <a:t>Breaking the scaling relation requires a different route — for us, OPM on a MnO₂-stabilised Ru site.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5B6572"/>
                </a:solidFill>
                <a:latin typeface="Arial"/>
              </a:rPr>
              <a:t>Adv. Energy Mater. 2023, 13, 2301951, Fig. 3c and Fig. 3d  ·  precedent as reviewed in the same review, §6.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33679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493776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378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Solution: put Ru into a MnO₂ framework by electrodeposition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37744"/>
            <a:ext cx="786384" cy="521554"/>
          </a:xfrm>
          <a:prstGeom prst="rect">
            <a:avLst/>
          </a:prstGeom>
        </p:spPr>
      </p:pic>
      <p:pic>
        <p:nvPicPr>
          <p:cNvPr id="5" name="Picture 4" descr="fig_nc2026_fig1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24128"/>
            <a:ext cx="3977639" cy="42121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83480" y="1051560"/>
            <a:ext cx="6583680" cy="123444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ctr"/>
            <a:r>
              <a:rPr sz="1300" b="1">
                <a:solidFill>
                  <a:srgbClr val="003D7C"/>
                </a:solidFill>
                <a:latin typeface="Arial"/>
              </a:rPr>
              <a:t>Mn³⁺/Mn⁴⁺ buffers the charge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  <a:latin typeface="Arial"/>
              </a:rPr>
              <a:t>The MnO₂ framework holds ruthenium near +4, outside the RuO₄ window, and the surface hydroxyls take part in the reaction (Nat. Commun. 2026, Fig. 1).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2395728"/>
            <a:ext cx="6583680" cy="1234440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9AD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ctr"/>
            <a:r>
              <a:rPr sz="1300" b="1">
                <a:solidFill>
                  <a:srgbClr val="003D7C"/>
                </a:solidFill>
                <a:latin typeface="Arial"/>
              </a:rPr>
              <a:t>The metal goes into the lattice, not on top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  <a:latin typeface="Arial"/>
              </a:rPr>
              <a:t>The same idea is demonstrated with iridium: electrodeposited MnO₂ oxidises the metal and drives it in, giving M–O–Mn bridges (Science 2024, Fig. 1A).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3739896"/>
            <a:ext cx="6583680" cy="123444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F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ctr"/>
            <a:r>
              <a:rPr sz="1300" b="1">
                <a:solidFill>
                  <a:srgbClr val="003D7C"/>
                </a:solidFill>
                <a:latin typeface="Arial"/>
              </a:rPr>
              <a:t>Electrodeposition makes it tunable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  <a:latin typeface="Arial"/>
              </a:rPr>
              <a:t>Deposition charge, current and bath pH set the phase and the edge-site density, so the density of Ru–O–Mn coupling becomes a process variable we can scan. This is what the literature does not provide.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30368"/>
            <a:ext cx="11109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C0392B"/>
                </a:solidFill>
                <a:latin typeface="Arial"/>
              </a:rPr>
              <a:t>A cooperative Ru–MnO₂ architecture supplies both the support and the redox buffer; our contribution is to build it by electrodeposition and to prove ruthenium sits inside the lattice.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5B6572"/>
                </a:solidFill>
                <a:latin typeface="Arial"/>
              </a:rPr>
              <a:t>Nat. Commun. 2026, Fig. 1 (Ru–MnO₂ architecture)  ·  Science 2024, 384, 666, Fig. 1A (precedent with Ir).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33679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493776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378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rial"/>
              </a:rPr>
              <a:t>Experiment plan: deposit, window, exchange, prove, test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37744"/>
            <a:ext cx="786384" cy="52155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1051560"/>
            <a:ext cx="10835640" cy="768096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ctr"/>
            <a:r>
              <a:rPr sz="1350" b="1">
                <a:solidFill>
                  <a:srgbClr val="003D7C"/>
                </a:solidFill>
                <a:latin typeface="Arial"/>
              </a:rPr>
              <a:t>1  Electrodeposit MnO₂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  <a:latin typeface="Arial"/>
              </a:rPr>
              <a:t>Ti mesh or Ti felt; 7 mA cm⁻² for 15 min (≈6.3 C cm⁻²); current and bath pH as variables.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11095"/>
            <a:ext cx="10835640" cy="768096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ctr"/>
            <a:r>
              <a:rPr sz="1350" b="1">
                <a:solidFill>
                  <a:srgbClr val="003D7C"/>
                </a:solidFill>
                <a:latin typeface="Arial"/>
              </a:rPr>
              <a:t>2  Find the stability window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  <a:latin typeface="Arial"/>
              </a:rPr>
              <a:t>Potential-step scan 1.40 → 1.90 V vs RHE with segmented ICP-MS (Ru and Mn separately).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70632"/>
            <a:ext cx="10835640" cy="768096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ctr"/>
            <a:r>
              <a:rPr sz="1350" b="1">
                <a:solidFill>
                  <a:srgbClr val="003D7C"/>
                </a:solidFill>
                <a:latin typeface="Arial"/>
              </a:rPr>
              <a:t>3  Cation exchange with Ru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  <a:latin typeface="Arial"/>
              </a:rPr>
              <a:t>Bring Ru into the MnO₂ framework; run impregnated and co-deposited controls in parallel.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30168"/>
            <a:ext cx="10835640" cy="768096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ctr"/>
            <a:r>
              <a:rPr sz="1350" b="1">
                <a:solidFill>
                  <a:srgbClr val="003D7C"/>
                </a:solidFill>
                <a:latin typeface="Arial"/>
              </a:rPr>
              <a:t>4  Prove Ru is inside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  <a:latin typeface="Arial"/>
              </a:rPr>
              <a:t>EXAFS: Ru–O–Mn appears while Ru–O–Ru weakens; paired XPS, Raman and STEM before and after activation.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489704"/>
            <a:ext cx="10835640" cy="768096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ctr"/>
            <a:r>
              <a:rPr sz="1350" b="1">
                <a:solidFill>
                  <a:srgbClr val="003D7C"/>
                </a:solidFill>
                <a:latin typeface="Arial"/>
              </a:rPr>
              <a:t>5  Test and scale to a device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  <a:latin typeface="Arial"/>
              </a:rPr>
              <a:t>η10, Tafel, EIS and ECSA; long-term chronopotentiometry with ICP-MS, then a single-cell PEM test.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11109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C0392B"/>
                </a:solidFill>
                <a:latin typeface="Arial"/>
              </a:rPr>
              <a:t>First priority is step 2: if manganese dissolves much faster than ruthenium and cannot be suppressed, the phase or the oxygen coordination is changed before any optimisation.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5B6572"/>
                </a:solidFill>
                <a:latin typeface="Arial"/>
              </a:rPr>
              <a:t>Characterisation and testing practice follows Adv. Energy Mater. 2023 §5 and Science 2024 (device-level reporting).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33679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