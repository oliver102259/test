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6576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731520"/>
            <a:ext cx="1463040" cy="9703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1874519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3D7C"/>
                </a:solidFill>
                <a:latin typeface="Arial" panose="020B0604020202020204"/>
              </a:rPr>
              <a:t>Stabilizing Ruthenium through Ru–O–Mn Interfacial Coupling for Acidic Oxygen Evolution</a:t>
            </a:r>
            <a:endParaRPr sz="30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5B6572"/>
                </a:solidFill>
                <a:latin typeface="Arial" panose="020B0604020202020204"/>
              </a:rPr>
              <a:t>Final-year project · Progress review (first presentation)</a:t>
            </a:r>
            <a:endParaRPr sz="1800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1248" y="3931920"/>
            <a:ext cx="10698480" cy="45720"/>
          </a:xfrm>
          <a:prstGeom prst="rect">
            <a:avLst/>
          </a:prstGeom>
          <a:solidFill>
            <a:srgbClr val="EF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187952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 panose="020B0604020202020204"/>
              </a:rPr>
              <a:t>Candidate</a:t>
            </a:r>
            <a:endParaRPr sz="1600" b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51760" y="4187952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 panose="020B0604020202020204"/>
              </a:rPr>
              <a:t>Zhao Shen</a:t>
            </a:r>
            <a:endParaRPr sz="18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4608576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 panose="020B0604020202020204"/>
              </a:rPr>
              <a:t>Programme</a:t>
            </a:r>
            <a:endParaRPr sz="1600" b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51760" y="4608576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 panose="020B0604020202020204"/>
              </a:rPr>
              <a:t>NUS–ECUST Joint Programme (MSE 311)</a:t>
            </a:r>
            <a:endParaRPr sz="18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5029200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 panose="020B0604020202020204"/>
              </a:rPr>
              <a:t>Supervisor</a:t>
            </a:r>
            <a:endParaRPr sz="1600" b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51760" y="5029200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 panose="020B0604020202020204"/>
              </a:rPr>
              <a:t>Prof. Xue Junmin, Materials Science and Engineering</a:t>
            </a:r>
            <a:endParaRPr sz="18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" y="5449824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 panose="020B0604020202020204"/>
              </a:rPr>
              <a:t>Mentor</a:t>
            </a:r>
            <a:endParaRPr sz="1600" b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51760" y="5449824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 panose="020B0604020202020204"/>
              </a:rPr>
              <a:t>Yu Junchen, NUSRI-CQ</a:t>
            </a:r>
            <a:endParaRPr sz="18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" y="5870448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 panose="020B0604020202020204"/>
              </a:rPr>
              <a:t>Date</a:t>
            </a:r>
            <a:endParaRPr sz="1600" b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51760" y="5870448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 panose="020B0604020202020204"/>
              </a:rPr>
              <a:t>24 September 2026</a:t>
            </a:r>
            <a:endParaRPr sz="18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Hydrogen: why the world is moving to it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90" y="1051560"/>
            <a:ext cx="10678171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120640"/>
            <a:ext cx="10908792" cy="854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 panose="020B0604020202020204"/>
              </a:rPr>
              <a:t>Hydrogen production is about 100 Mt per year and is still dominated by unabated fossil fuels. Low-emission hydrogen from electrolysis is about 1 Mt, i.e. below 1%.</a:t>
            </a:r>
            <a:endParaRPr sz="1600" b="0">
              <a:solidFill>
                <a:srgbClr val="1F2937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Demand is expected to grow under announced pledges, so the production route — not the molecule — is the bottleneck. Water electrolysis is the route that can be decarbonised, and its cost is set by the anode.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Data: IEA Global Hydrogen Review 2025 and 2026.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 panose="020B0604020202020204"/>
              </a:rPr>
              <a:t>1</a:t>
            </a:r>
            <a:endParaRPr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Making hydrogen: water electrolysis and its two half-reactions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cell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4937759" cy="34124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97880" y="1417320"/>
            <a:ext cx="5623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Cathode (HER):  2 H₂O + 2 e⁻ → H₂ + 2 OH⁻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97880" y="1965960"/>
            <a:ext cx="5623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Anode (OER):    2 H₂O → O₂ + 4 H⁺ + 4 e⁻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897880" y="2606040"/>
            <a:ext cx="5623560" cy="132588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OER is the bottleneck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 panose="020B0604020202020204"/>
              </a:rPr>
              <a:t>Four electrons and four protons move through several intermediates, so the reaction is slow and carries most of the cell overpotential.</a:t>
            </a:r>
            <a:endParaRPr sz="15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97880" y="4069080"/>
            <a:ext cx="5623560" cy="105156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Two environments, two material sets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 panose="020B0604020202020204"/>
              </a:rPr>
              <a:t>Alkaline media allow cheap Ni, Co or Fe oxides; acidic media (PEM) require Ir or Ru oxides.</a:t>
            </a:r>
            <a:endParaRPr sz="15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90879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Water splitting is two half-reactions, and the oxygen evolution reaction at the anode limits the whole cell.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Panel: Chem. Soc. Rev. 2020, 49, 2196, Fig. 1 (re-rendered at high resolution).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 panose="020B0604020202020204"/>
              </a:rPr>
              <a:t>2</a:t>
            </a:r>
            <a:endParaRPr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Three mechanisms side by side: what really differs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864608"/>
            <a:ext cx="10908792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 panose="020B0604020202020204"/>
              </a:rPr>
              <a:t>The three routes differ in two things: whether lattice oxygen is consumed, and whether one site or two adjacent sites perform the O–O coupling.</a:t>
            </a:r>
            <a:endParaRPr sz="1600" b="0">
              <a:solidFill>
                <a:srgbClr val="1F2937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We target OPM: direct coupling needs no *OOH and leaves no vacancy, while LOM destroys the surface</a:t>
            </a:r>
            <a:r>
              <a:rPr lang="en-US" sz="1700" b="1">
                <a:solidFill>
                  <a:srgbClr val="C0392B"/>
                </a:solidFill>
                <a:latin typeface="Arial" panose="020B0604020202020204"/>
              </a:rPr>
              <a:t> and AEM has a restriction</a:t>
            </a: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Panels: Nat. Commun. 2023, 14, 354, Fig. 4d (AEM) and Supplementary Figs. 26 (LOM) and 35 (OPM), CC-BY.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 panose="020B0604020202020204"/>
              </a:rPr>
              <a:t>3</a:t>
            </a:r>
            <a:endParaRPr sz="1300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9" name="Picture 8" descr="fig_mech_comp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19505"/>
            <a:ext cx="12191365" cy="36932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Mechanism I: AEM — four steps, and a ceiling you cannot remove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use_energy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896" y="1234440"/>
            <a:ext cx="3665726" cy="3246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1234440"/>
            <a:ext cx="4325112" cy="146304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700" b="1">
                <a:solidFill>
                  <a:srgbClr val="003D7C"/>
                </a:solidFill>
                <a:latin typeface="Arial" panose="020B0604020202020204"/>
              </a:rPr>
              <a:t>The four steps</a:t>
            </a:r>
            <a:endParaRPr sz="17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 panose="020B0604020202020204"/>
              </a:rPr>
              <a:t>AEM uses adsorbed oxygen only — H₂O → *OH → *O → *OOH → O₂ — all on the same metal site.</a:t>
            </a:r>
            <a:endParaRPr sz="14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23760" y="2834640"/>
            <a:ext cx="4325112" cy="164592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700" b="1">
                <a:solidFill>
                  <a:srgbClr val="003D7C"/>
                </a:solidFill>
                <a:latin typeface="Arial" panose="020B0604020202020204"/>
              </a:rPr>
              <a:t>Why it is capped</a:t>
            </a:r>
            <a:endParaRPr sz="17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 panose="020B0604020202020204"/>
              </a:rPr>
              <a:t>Because *OH and *OOH both bind through a single oxygen, their energies move together: the scaling gap is about 3.2 eV, so one step is always larger than 1.23 eV.</a:t>
            </a:r>
            <a:endParaRPr sz="14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864608"/>
            <a:ext cx="10908792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 panose="020B0604020202020204"/>
              </a:rPr>
              <a:t>Left: ideal versus real free-energy steps at U = 0 — no catalyst can make all four equal.</a:t>
            </a:r>
            <a:endParaRPr sz="1600" b="0">
              <a:solidFill>
                <a:srgbClr val="1F2937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Result: an intrinsic floor of about 0.37 V. AEM can be improved, but never below that floor.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Chem. Soc. Rev. 2020, 49, 2196, Fig. 2a (adapted)  ·  floor from Adv. Energy Mater. 2023, 13, 2301391, §3.2.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 panose="020B0604020202020204"/>
              </a:rPr>
              <a:t>4</a:t>
            </a:r>
            <a:endParaRPr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Mechanism II: LOM — faster, but the surface pays for it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e_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766559" cy="22841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188720"/>
            <a:ext cx="3867912" cy="141732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9A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700" b="1">
                <a:solidFill>
                  <a:srgbClr val="003D7C"/>
                </a:solidFill>
                <a:latin typeface="Arial" panose="020B0604020202020204"/>
              </a:rPr>
              <a:t>When it switches on</a:t>
            </a:r>
            <a:endParaRPr sz="17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 panose="020B0604020202020204"/>
              </a:rPr>
              <a:t>Once the oxygen 2p states rise above the metal–oxygen band, lattice oxygen is oxidised and leaves as O₂.</a:t>
            </a:r>
            <a:endParaRPr sz="14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80960" y="2743200"/>
            <a:ext cx="3867912" cy="173736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E8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700" b="1">
                <a:solidFill>
                  <a:srgbClr val="003D7C"/>
                </a:solidFill>
                <a:latin typeface="Arial" panose="020B0604020202020204"/>
              </a:rPr>
              <a:t>What is left behind</a:t>
            </a:r>
            <a:endParaRPr sz="17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 panose="020B0604020202020204"/>
              </a:rPr>
              <a:t>An oxygen vacancy — and the metal is released together with the oxygen. This is the dissolution channel we must avoid in acid.</a:t>
            </a:r>
            <a:endParaRPr sz="14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864608"/>
            <a:ext cx="10908792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 panose="020B0604020202020204"/>
              </a:rPr>
              <a:t>Left: Mott–Hubbard picture — the O 2p band is pushed towards the Fermi level, so lattice oxygen becomes redox-active.</a:t>
            </a:r>
            <a:endParaRPr sz="1600" b="0">
              <a:solidFill>
                <a:srgbClr val="1F2937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LOM buys activity with the surface: the vacancy stays, and the metal follows the oxygen into solution.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Adv. Energy Mater. 2023, 13, 2301391, Fig. 1e (Mott–Hubbard picture) and §4; vacancy-to-dissolution link as reviewed there, §6.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 panose="020B0604020202020204"/>
              </a:rPr>
              <a:t>5</a:t>
            </a:r>
            <a:endParaRPr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Platform: acidic PEM, because that is where the durability problem is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cand_pemrev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2" y="1371600"/>
            <a:ext cx="5899354" cy="36575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371600"/>
            <a:ext cx="4599432" cy="164592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PEM matches renewable electricity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 panose="020B0604020202020204"/>
              </a:rPr>
              <a:t>High current density, fast response and high-purity hydrogen; the membrane is acidic, so the anode sees about 1 M proton activity (pH 0).</a:t>
            </a:r>
            <a:endParaRPr sz="15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949440" y="3200400"/>
            <a:ext cx="4599432" cy="178308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Only Ir and Ru oxides survive there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 panose="020B0604020202020204"/>
              </a:rPr>
              <a:t>Alkaline systems can use Ni, Co or Fe oxides. In acid the choice collapses to iridium and ruthenium, and iridium is the scarcest option.</a:t>
            </a:r>
            <a:endParaRPr sz="15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1090879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The anode environment decides which elements are allowed, so the project is defined by durability at low noble-metal loading rather than by activity.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Panel: PEM electrolysis system review (cell schematic)  ·  Chem. Soc. Rev. 2020, 49, 2196, §4.4.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 panose="020B0604020202020204"/>
              </a:rPr>
              <a:t>6</a:t>
            </a:r>
            <a:endParaRPr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Element: ruthenium is cheap and active — but it dissolves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3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45" y="1325880"/>
            <a:ext cx="3498149" cy="37033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257800" y="1325880"/>
            <a:ext cx="6291072" cy="128016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Why Ru and not Ir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 panose="020B0604020202020204"/>
              </a:rPr>
              <a:t>RuO₂ is more active than IrO₂ for OER, and ruthenium is far cheaper and more abundant; iridium supply is the ceiling for PEM deployment.</a:t>
            </a:r>
            <a:endParaRPr sz="15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257800" y="2743200"/>
            <a:ext cx="6291072" cy="105156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E8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Failure channel 1 — over-oxidation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 panose="020B0604020202020204"/>
              </a:rPr>
              <a:t>Ruthenium is oxidised beyond +4 to soluble RuO₄ and leaves the electrode.</a:t>
            </a:r>
            <a:endParaRPr sz="15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257800" y="3931920"/>
            <a:ext cx="6291072" cy="105156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E8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800" b="1">
                <a:solidFill>
                  <a:srgbClr val="003D7C"/>
                </a:solidFill>
                <a:latin typeface="Arial" panose="020B0604020202020204"/>
              </a:rPr>
              <a:t>Failure channel 2 — lattice oxygen</a:t>
            </a:r>
            <a:endParaRPr sz="18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 panose="020B0604020202020204"/>
              </a:rPr>
              <a:t>Lattice oxygen participates, a vacancy is left behind, and the metal follows the oxygen out.</a:t>
            </a:r>
            <a:endParaRPr sz="15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90879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Both descriptions refer to the same surface: the metal redox and the oxygen redox must be controlled together. The proof of stabilisation has to be a dissolution measurement.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Adv. Energy Mater. 2023, 13, 2301391, Fig. 1g and §6  ·  Re-doped RuO₂: Nat. Commun. 2023, 14, 354.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 panose="020B0604020202020204"/>
              </a:rPr>
              <a:t>7</a:t>
            </a:r>
            <a:endParaRPr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 panose="020B0604020202020204"/>
              </a:rPr>
              <a:t>Solution: put Ru into a MnO₂ framework by electrodeposition</a:t>
            </a:r>
            <a:endParaRPr sz="27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use_nc_fig2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0" y="1134110"/>
            <a:ext cx="4772025" cy="38042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94960" y="1133856"/>
            <a:ext cx="6153912" cy="100584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700" b="1">
                <a:solidFill>
                  <a:srgbClr val="003D7C"/>
                </a:solidFill>
                <a:latin typeface="Arial" panose="020B0604020202020204"/>
              </a:rPr>
              <a:t>Mn³⁺/Mn⁴⁺ buffers the charge</a:t>
            </a:r>
            <a:endParaRPr sz="17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 panose="020B0604020202020204"/>
              </a:rPr>
              <a:t>The MnO₂ framework holds Ru near +4, outside the RuO₄ window.</a:t>
            </a:r>
            <a:endParaRPr sz="14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94960" y="2231136"/>
            <a:ext cx="6153912" cy="132588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9A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700" b="1">
                <a:solidFill>
                  <a:srgbClr val="003D7C"/>
                </a:solidFill>
                <a:latin typeface="Arial" panose="020B0604020202020204"/>
              </a:rPr>
              <a:t>The metal goes inside the lattice</a:t>
            </a:r>
            <a:endParaRPr sz="17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 panose="020B0604020202020204"/>
              </a:rPr>
              <a:t>Electrodeposited MnO₂ oxidises the metal and drives it in, forming M–O–Mn bridges; EXAFS shows the Ru–O–Mn shell.</a:t>
            </a:r>
            <a:endParaRPr sz="14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94960" y="3648456"/>
            <a:ext cx="6153912" cy="100584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t"/>
          <a:lstStyle/>
          <a:p>
            <a:pPr algn="ctr"/>
            <a:r>
              <a:rPr sz="1700" b="1">
                <a:solidFill>
                  <a:srgbClr val="003D7C"/>
                </a:solidFill>
                <a:latin typeface="Arial" panose="020B0604020202020204"/>
              </a:rPr>
              <a:t>Electrodeposition makes it tunable</a:t>
            </a:r>
            <a:endParaRPr sz="1700" b="1">
              <a:solidFill>
                <a:srgbClr val="003D7C"/>
              </a:solidFill>
              <a:latin typeface="Arial" panose="020B0604020202020204"/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 panose="020B0604020202020204"/>
              </a:rPr>
              <a:t>Deposition charge, current and bath pH set the phase and edge-site density.</a:t>
            </a:r>
            <a:endParaRPr sz="14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280660"/>
            <a:ext cx="10908792" cy="838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 panose="020B0604020202020204"/>
              </a:rPr>
              <a:t>Figure: (a) synthesis route; (b) XRD of the Ru₀.₀₃Mn₀.₉₇O₂ series; (c) atomic-resolution STEM;</a:t>
            </a:r>
            <a:endParaRPr sz="1600" b="0">
              <a:solidFill>
                <a:srgbClr val="1F2937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 panose="020B0604020202020204"/>
              </a:rPr>
              <a:t>(d) EDS mapping; (e) intensity profiles; (f) Ru K-edge FT-EXAFS; (g) XANES; (h) Mn 3s XPS.</a:t>
            </a:r>
            <a:endParaRPr sz="1600" b="0">
              <a:solidFill>
                <a:srgbClr val="1F2937"/>
              </a:solidFill>
              <a:latin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Our contribution: build it by electrodeposition and prove Ru sits inside the lattice, not on the surface.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Nat. Commun. 2026, 17, 7657, Fig. 2  ·  Science 2024, 384, 666, Fig. 1A (precedent with Ir).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639677" y="6400800"/>
            <a:ext cx="274955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300">
                <a:solidFill>
                  <a:srgbClr val="1F2937"/>
                </a:solidFill>
                <a:latin typeface="Arial" panose="020B0604020202020204"/>
              </a:rPr>
              <a:t>8</a:t>
            </a:r>
            <a:endParaRPr lang="en-US"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 panose="020B0604020202020204"/>
              </a:rPr>
              <a:t>Experiment plan: deposit, window, exchange, prove, test</a:t>
            </a:r>
            <a:endParaRPr sz="2600" b="1">
              <a:solidFill>
                <a:srgbClr val="1F2937"/>
              </a:solidFill>
              <a:latin typeface="Arial" panose="020B0604020202020204"/>
            </a:endParaRP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05" y="859790"/>
            <a:ext cx="11718290" cy="43967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349240"/>
            <a:ext cx="1090879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 panose="020B0604020202020204"/>
              </a:rPr>
              <a:t>First priority: step 2 — find the MnO₂ host window (Mn²⁺ below, MnO₄⁻ above) before loading Ru.</a:t>
            </a:r>
            <a:endParaRPr sz="1700" b="1">
              <a:solidFill>
                <a:srgbClr val="C0392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 panose="020B0604020202020204"/>
              </a:rPr>
              <a:t>Schematic drawn for this project: parameters per the group protocol; characterisation and testing practice follow Adv. Energy Mater. 2023 §5.</a:t>
            </a:r>
            <a:endParaRPr sz="1000" i="1">
              <a:solidFill>
                <a:srgbClr val="5B65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639677" y="6400800"/>
            <a:ext cx="274955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300">
                <a:solidFill>
                  <a:srgbClr val="1F2937"/>
                </a:solidFill>
                <a:latin typeface="Arial" panose="020B0604020202020204"/>
              </a:rPr>
              <a:t>9</a:t>
            </a:r>
            <a:endParaRPr lang="en-US" sz="1300">
              <a:solidFill>
                <a:srgbClr val="1F293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5557</Words>
  <Application>WPS 演示</Application>
  <PresentationFormat>On-screen Show (4:3)</PresentationFormat>
  <Paragraphs>147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赵申</cp:lastModifiedBy>
  <cp:revision>6</cp:revision>
  <dcterms:created xsi:type="dcterms:W3CDTF">2013-01-27T09:14:00Z</dcterms:created>
  <dcterms:modified xsi:type="dcterms:W3CDTF">2026-09-27T09:38:54Z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81F02A8F2C584AF5A4D340DF4879A508_12</vt:lpwstr>
  </property>
  <property fmtid="{D5CDD505-2E9C-101B-9397-08002B2CF9AE}" pid="3" name="KSOProductBuildVer">
    <vt:lpwstr>2052-12.1.0.28599</vt:lpwstr>
  </property>
</Properties>
</file>