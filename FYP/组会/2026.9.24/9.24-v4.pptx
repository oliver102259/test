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36576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5832" y="731520"/>
            <a:ext cx="1463040" cy="9703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" y="1874519"/>
            <a:ext cx="10424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03D7C"/>
                </a:solidFill>
                <a:latin typeface="Arial"/>
              </a:rPr>
              <a:t>Stabilizing Ruthenium through Ru–O–Mn Interfacial Coupling for Acidic Oxygen Evolution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5B6572"/>
                </a:solidFill>
                <a:latin typeface="Arial"/>
              </a:rPr>
              <a:t>Final-year project · Progress review (first presentation)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3931920"/>
            <a:ext cx="10698480" cy="45720"/>
          </a:xfrm>
          <a:prstGeom prst="rect">
            <a:avLst/>
          </a:prstGeom>
          <a:solidFill>
            <a:srgbClr val="EF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4187952"/>
            <a:ext cx="1783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5B6572"/>
                </a:solidFill>
                <a:latin typeface="Arial"/>
              </a:rPr>
              <a:t>Candidate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4187952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Arial"/>
              </a:rPr>
              <a:t>Zhao Shen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608576"/>
            <a:ext cx="1783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5B6572"/>
                </a:solidFill>
                <a:latin typeface="Arial"/>
              </a:rPr>
              <a:t>Programme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4608576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Arial"/>
              </a:rPr>
              <a:t>NUS–ECUST Joint Programme (MSE 311)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5029200"/>
            <a:ext cx="1783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5B6572"/>
                </a:solidFill>
                <a:latin typeface="Arial"/>
              </a:rPr>
              <a:t>Supervisor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029200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Arial"/>
              </a:rPr>
              <a:t>Prof. Xue Junmin, Materials Science and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5449824"/>
            <a:ext cx="1783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5B6572"/>
                </a:solidFill>
                <a:latin typeface="Arial"/>
              </a:rPr>
              <a:t>Mentor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5449824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Arial"/>
              </a:rPr>
              <a:t>Yu Junchen, NUSRI-CQ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5870448"/>
            <a:ext cx="1783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5B6572"/>
                </a:solidFill>
                <a:latin typeface="Arial"/>
              </a:rPr>
              <a:t>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5870448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Arial"/>
              </a:rPr>
              <a:t>24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Hydrogen: why the world is moving to it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fig_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390" y="1051560"/>
            <a:ext cx="10678171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120640"/>
            <a:ext cx="10908792" cy="854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Hydrogen production is about 100 Mt per year and is still dominated by unabated fossil fuels. Low-emission hydrogen from electrolysis is about 1 Mt, i.e. below 1%.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Demand is expected to grow under announced pledges, so the production route — not the molecule — is the bottleneck. Water electrolysis is the route that can be decarbonised, and its cost is set by the anode.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Data: IEA Global Hydrogen Review 2025 and 2026.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Making hydrogen: water electrolysis and its two half-reactions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fig_cell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4937759" cy="34124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97880" y="1417320"/>
            <a:ext cx="56235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03D7C"/>
                </a:solidFill>
                <a:latin typeface="Arial"/>
              </a:rPr>
              <a:t>Cathode (HER):  2 H₂O + 2 e⁻ → H₂ + 2 OH⁻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1965960"/>
            <a:ext cx="56235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03D7C"/>
                </a:solidFill>
                <a:latin typeface="Arial"/>
              </a:rPr>
              <a:t>Anode (OER):    2 H₂O → O₂ + 4 H⁺ + 4 e⁻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2606040"/>
            <a:ext cx="5623560" cy="1325880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OER is the bottleneck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Four electrons and four protons move through several intermediates, so the reaction is slow and carries most of the cell overpotential.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97880" y="4069080"/>
            <a:ext cx="5623560" cy="1051560"/>
          </a:xfrm>
          <a:prstGeom prst="roundRect">
            <a:avLst/>
          </a:prstGeom>
          <a:solidFill>
            <a:srgbClr val="FFF7EC"/>
          </a:solidFill>
          <a:ln w="12700">
            <a:solidFill>
              <a:srgbClr val="EF7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Two environments, two material sets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Alkaline media allow cheap Ni, Co or Fe oxides; acidic media (PEM) require Ir or Ru oxides.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10908792" cy="326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Water splitting is two half-reactions, and the oxygen evolution reaction at the anode limits the whole cell.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Panel: Chem. Soc. Rev. 2020, 49, 2196, Fig. 1 (re-rendered at high resolution).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Three mechanisms side by side: what really differs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fig_mech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78992"/>
            <a:ext cx="10908792" cy="3575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864608"/>
            <a:ext cx="10908792" cy="582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The three routes differ in two things: whether lattice oxygen is consumed, and whether one site or two adjacent sites perform the O–O coupling.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We target OPM: direct coupling needs no *OOH and leaves no vacancy, while LOM destroys the surface.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Panels: Nat. Commun. 2023, 14, 354, Fig. 4d (AEM) and Supplementary Figs. 26 (LOM) and 35 (OPM), CC-BY.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Mechanism I: AEM — four steps, and a ceiling you cannot remove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use_energy_pa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1896" y="1234440"/>
            <a:ext cx="3665726" cy="3246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223760" y="1234440"/>
            <a:ext cx="4325112" cy="1463040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700" b="1">
                <a:solidFill>
                  <a:srgbClr val="003D7C"/>
                </a:solidFill>
                <a:latin typeface="Arial"/>
              </a:rPr>
              <a:t>The four steps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F2937"/>
                </a:solidFill>
                <a:latin typeface="Arial"/>
              </a:rPr>
              <a:t>AEM uses adsorbed oxygen only — H₂O → *OH → *O → *OOH → O₂ — all on the same metal site.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2834640"/>
            <a:ext cx="4325112" cy="1645920"/>
          </a:xfrm>
          <a:prstGeom prst="roundRect">
            <a:avLst/>
          </a:prstGeom>
          <a:solidFill>
            <a:srgbClr val="FFF7EC"/>
          </a:solidFill>
          <a:ln w="12700">
            <a:solidFill>
              <a:srgbClr val="EF7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700" b="1">
                <a:solidFill>
                  <a:srgbClr val="003D7C"/>
                </a:solidFill>
                <a:latin typeface="Arial"/>
              </a:rPr>
              <a:t>Why it is capped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F2937"/>
                </a:solidFill>
                <a:latin typeface="Arial"/>
              </a:rPr>
              <a:t>Because *OH and *OOH both bind through a single oxygen, their energies move together: the scaling gap is about 3.2 eV, so one step is always larger than 1.23 eV.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64608"/>
            <a:ext cx="10908792" cy="582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Left: ideal versus real free-energy steps at U = 0 — no catalyst can make all four equal.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Result: an intrinsic floor of about 0.37 V. AEM can be improved, but never below that floor.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Chem. Soc. Rev. 2020, 49, 2196, Fig. 2a (adapted)  ·  floor from Adv. Energy Mater. 2023, 13, 2301391, §3.2.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Mechanism II: LOM — faster, but the surface pays for it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fig_e_d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188720"/>
            <a:ext cx="6766559" cy="228415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80960" y="1188720"/>
            <a:ext cx="3867912" cy="1417320"/>
          </a:xfrm>
          <a:prstGeom prst="roundRect">
            <a:avLst/>
          </a:prstGeom>
          <a:solidFill>
            <a:srgbClr val="E8F5EE"/>
          </a:solidFill>
          <a:ln w="12700">
            <a:solidFill>
              <a:srgbClr val="9AD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700" b="1">
                <a:solidFill>
                  <a:srgbClr val="003D7C"/>
                </a:solidFill>
                <a:latin typeface="Arial"/>
              </a:rPr>
              <a:t>When it switches on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F2937"/>
                </a:solidFill>
                <a:latin typeface="Arial"/>
              </a:rPr>
              <a:t>Once the oxygen 2p states rise above the metal–oxygen band, lattice oxygen is oxidised and leaves as O₂.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0" y="2743200"/>
            <a:ext cx="3867912" cy="1737360"/>
          </a:xfrm>
          <a:prstGeom prst="roundRect">
            <a:avLst/>
          </a:prstGeom>
          <a:solidFill>
            <a:srgbClr val="FDF2F2"/>
          </a:solidFill>
          <a:ln w="12700">
            <a:solidFill>
              <a:srgbClr val="E8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700" b="1">
                <a:solidFill>
                  <a:srgbClr val="003D7C"/>
                </a:solidFill>
                <a:latin typeface="Arial"/>
              </a:rPr>
              <a:t>What is left behind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F2937"/>
                </a:solidFill>
                <a:latin typeface="Arial"/>
              </a:rPr>
              <a:t>An oxygen vacancy — and the metal is released together with the oxygen. This is the dissolution channel we must avoid in acid.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64608"/>
            <a:ext cx="10908792" cy="582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Left: Mott–Hubbard picture — the O 2p band is pushed towards the Fermi level, so lattice oxygen becomes redox-active.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LOM buys activity with the surface: the vacancy stays, and the metal follows the oxygen into solution.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Adv. Energy Mater. 2023, 13, 2301391, Fig. 1e (Mott–Hubbard picture) and §4; vacancy-to-dissolution link as reviewed there, §6.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Platform: acidic PEM, because that is where the durability problem is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cand_pemrev_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922" y="1371600"/>
            <a:ext cx="5899354" cy="365759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949440" y="1371600"/>
            <a:ext cx="4599432" cy="1645920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PEM matches renewable electricity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High current density, fast response and high-purity hydrogen; the membrane is acidic, so the anode sees about 1 M proton activity (pH 0).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3200400"/>
            <a:ext cx="4599432" cy="1783080"/>
          </a:xfrm>
          <a:prstGeom prst="roundRect">
            <a:avLst/>
          </a:prstGeom>
          <a:solidFill>
            <a:srgbClr val="FFF7EC"/>
          </a:solidFill>
          <a:ln w="12700">
            <a:solidFill>
              <a:srgbClr val="EF7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Only Ir and Ru oxides survive there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Alkaline systems can use Ni, Co or Fe oxides. In acid the choice collapses to iridium and ruthenium, and iridium is the scarcest option.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257800"/>
            <a:ext cx="10908792" cy="326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The anode environment decides which elements are allowed, so the project is defined by durability at low noble-metal loading rather than by activity.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Panel: PEM electrolysis system review (cell schematic)  ·  Chem. Soc. Rev. 2020, 49, 2196, §4.4.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Element: ruthenium is cheap and active — but it dissolves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fig3_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845" y="1325880"/>
            <a:ext cx="3498149" cy="370331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257800" y="1325880"/>
            <a:ext cx="6291072" cy="1280160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Why Ru and not Ir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RuO₂ is more active than IrO₂ for OER, and ruthenium is far cheaper and more abundant; iridium supply is the ceiling for PEM deployment.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57800" y="2743200"/>
            <a:ext cx="6291072" cy="1051560"/>
          </a:xfrm>
          <a:prstGeom prst="roundRect">
            <a:avLst/>
          </a:prstGeom>
          <a:solidFill>
            <a:srgbClr val="FDF2F2"/>
          </a:solidFill>
          <a:ln w="12700">
            <a:solidFill>
              <a:srgbClr val="E8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Failure channel 1 — over-oxidation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Ruthenium is oxidised beyond +4 to soluble RuO₄ and leaves the electrode.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3931920"/>
            <a:ext cx="6291072" cy="1051560"/>
          </a:xfrm>
          <a:prstGeom prst="roundRect">
            <a:avLst/>
          </a:prstGeom>
          <a:solidFill>
            <a:srgbClr val="FDF2F2"/>
          </a:solidFill>
          <a:ln w="12700">
            <a:solidFill>
              <a:srgbClr val="E8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Failure channel 2 — lattice oxygen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Lattice oxygen participates, a vacancy is left behind, and the metal follows the oxygen out.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303520"/>
            <a:ext cx="10908792" cy="326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Both descriptions refer to the same surface: the metal redox and the oxygen redox must be controlled together. The proof of stabilisation has to be a dissolution measurement.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Adv. Energy Mater. 2023, 13, 2301391, Fig. 1g and §6  ·  Re-doped RuO₂: Nat. Commun. 2023, 14, 354.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Route: target OPM, keep AEM as the fallback, avoid LOM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fig_c_volcan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79" y="1188720"/>
            <a:ext cx="3669945" cy="3024083"/>
          </a:xfrm>
          <a:prstGeom prst="rect">
            <a:avLst/>
          </a:prstGeom>
        </p:spPr>
      </p:pic>
      <p:pic>
        <p:nvPicPr>
          <p:cNvPr id="6" name="Picture 5" descr="fig_d_volcan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5785" y="1188720"/>
            <a:ext cx="3828134" cy="30240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732520" y="1188720"/>
            <a:ext cx="2816352" cy="2057400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600" b="1">
                <a:solidFill>
                  <a:srgbClr val="003D7C"/>
                </a:solidFill>
                <a:latin typeface="Arial"/>
              </a:rPr>
              <a:t>Our ranking</a:t>
            </a:r>
          </a:p>
          <a:p>
            <a:pPr>
              <a:spcBef>
                <a:spcPts val="400"/>
              </a:spcBef>
            </a:pPr>
            <a:r>
              <a:rPr sz="1350">
                <a:solidFill>
                  <a:srgbClr val="1F2937"/>
                </a:solidFill>
                <a:latin typeface="Arial"/>
              </a:rPr>
              <a:t>1. OPM — direct O–O coupling, no vacancy.
2. AEM — safe, but capped at 0.37 V.
3. LOM — activity paid for with the surface: avoid.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401568"/>
            <a:ext cx="2816352" cy="1645920"/>
          </a:xfrm>
          <a:prstGeom prst="roundRect">
            <a:avLst/>
          </a:prstGeom>
          <a:solidFill>
            <a:srgbClr val="E8F5EE"/>
          </a:solidFill>
          <a:ln w="12700">
            <a:solidFill>
              <a:srgbClr val="9AD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600" b="1">
                <a:solidFill>
                  <a:srgbClr val="003D7C"/>
                </a:solidFill>
                <a:latin typeface="Arial"/>
              </a:rPr>
              <a:t>Precedent</a:t>
            </a:r>
          </a:p>
          <a:p>
            <a:pPr>
              <a:spcBef>
                <a:spcPts val="400"/>
              </a:spcBef>
            </a:pPr>
            <a:r>
              <a:rPr sz="1350">
                <a:solidFill>
                  <a:srgbClr val="1F2937"/>
                </a:solidFill>
                <a:latin typeface="Arial"/>
              </a:rPr>
              <a:t>Ru on α-MnO₂ by cation exchange: 161 mV at 10 mA cm⁻², more than 200 h, oxide path, no oxygen vacancy.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138928"/>
            <a:ext cx="10908792" cy="582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Both volcano plots show the same ceiling: activity is set by the adsorption energies of the intermediates, and the scaling relation fixes the height of the volcano.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Breaking that ceiling requires a different route — for us, OPM on a MnO₂-stabilised Ru site.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Adv. Energy Mater. 2023, 13, 2301391, Fig. 1c and Fig. 1d; precedent as reviewed there, §6.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Solution: put Ru into a MnO₂ framework by electrodeposition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use_nc_fig2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373" y="1133856"/>
            <a:ext cx="4427692" cy="352958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394960" y="1133856"/>
            <a:ext cx="6153912" cy="1005840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700" b="1">
                <a:solidFill>
                  <a:srgbClr val="003D7C"/>
                </a:solidFill>
                <a:latin typeface="Arial"/>
              </a:rPr>
              <a:t>Mn³⁺/Mn⁴⁺ buffers the charge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F2937"/>
                </a:solidFill>
                <a:latin typeface="Arial"/>
              </a:rPr>
              <a:t>The MnO₂ framework holds Ru near +4, outside the RuO₄ window.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0" y="2231136"/>
            <a:ext cx="6153912" cy="1325880"/>
          </a:xfrm>
          <a:prstGeom prst="roundRect">
            <a:avLst/>
          </a:prstGeom>
          <a:solidFill>
            <a:srgbClr val="E8F5EE"/>
          </a:solidFill>
          <a:ln w="12700">
            <a:solidFill>
              <a:srgbClr val="9AD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700" b="1">
                <a:solidFill>
                  <a:srgbClr val="003D7C"/>
                </a:solidFill>
                <a:latin typeface="Arial"/>
              </a:rPr>
              <a:t>The metal goes inside the lattice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F2937"/>
                </a:solidFill>
                <a:latin typeface="Arial"/>
              </a:rPr>
              <a:t>Electrodeposited MnO₂ oxidises the metal and drives it in, forming M–O–Mn bridges; EXAFS shows the Ru–O–Mn shell.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0" y="3648456"/>
            <a:ext cx="6153912" cy="1005840"/>
          </a:xfrm>
          <a:prstGeom prst="roundRect">
            <a:avLst/>
          </a:prstGeom>
          <a:solidFill>
            <a:srgbClr val="FFF7EC"/>
          </a:solidFill>
          <a:ln w="12700">
            <a:solidFill>
              <a:srgbClr val="EF7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700" b="1">
                <a:solidFill>
                  <a:srgbClr val="003D7C"/>
                </a:solidFill>
                <a:latin typeface="Arial"/>
              </a:rPr>
              <a:t>Electrodeposition makes it tunable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F2937"/>
                </a:solidFill>
                <a:latin typeface="Arial"/>
              </a:rPr>
              <a:t>Deposition charge, current and bath pH set the phase and edge-site density.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46320"/>
            <a:ext cx="10908792" cy="8389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Figure: (a) synthesis route; (b) XRD of the Ru₀.₀₃Mn₀.₉₇O₂ series; (c) atomic-resolution STEM;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(d) EDS mapping; (e) intensity profiles; (f) Ru K-edge FT-EXAFS; (g) XANES; (h) Mn 3s XPS.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Our contribution: build it by electrodeposition and prove Ru sits inside the lattice, not on the surface.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Nat. Commun. 2026, 17, 7657, Fig. 2  ·  Science 2024, 384, 666, Fig. 1A (precedent with Ir).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Experiment plan: deposit, window, exchange, prove, test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fig_pl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80" y="1024128"/>
            <a:ext cx="10656391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349240"/>
            <a:ext cx="10908792" cy="326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First priority: step 2 — find the MnO₂ host window (Mn²⁺ below, MnO₄⁻ above) before loading Ru.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Schematic drawn for this project: parameters per the group protocol; characterisation and testing practice follow Adv. Energy Mater. 2023 §5.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