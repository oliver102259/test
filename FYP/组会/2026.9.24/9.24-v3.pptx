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731520"/>
            <a:ext cx="1463040" cy="9703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/>
              </a:rPr>
              <a:t>Stabilizing Ruthenium through Ru–O–Mn Interfacial Coupling for Acidic Oxygen Evolution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/>
              </a:rPr>
              <a:t>Final-year project · Progress review (first presentation)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Zhao Shen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NUS–ECUST Joint Programme (MSE 311)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Prof. Xue Junmin, Materials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Yu Junchen, NUSRI-CQ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24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Hydrogen: why the world is moving to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Hydrogen production is about 100 Mt per year and is still dominated by unabated fossil fuels. Low-emission hydrogen from electrolysis is about 1 Mt, i.e. below 1%.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Data: IEA Global Hydrogen Review 2025 and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Making hydrogen: water electrolysis and its two half-reactions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937759" cy="3639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Cathode (HER):  2 H₂O + 2 e⁻ → H₂ + 2 OH⁻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Anode (OER):    2 H₂O → O₂ + 4 H⁺ + 4 e⁻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OER is the bottleneck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Four electrons and four protons move through several intermediates, so the reaction is slow and carries most of the cell overpotential.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Two environments, two material sets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media allow cheap Ni, Co or Fe oxides; acidic media (PEM) require Ir or Ru oxides.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Water splitting is two half-reactions, and the oxygen evolution reaction at the anode limits the whole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Chem. Soc. Rev. 2020, 49, 2196, Fig. 1 (re-rendered at high resolution).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I: adsorbate evolution (AEM) — four steps, one limit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ae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56" y="1188720"/>
            <a:ext cx="3770653" cy="3703320"/>
          </a:xfrm>
          <a:prstGeom prst="rect">
            <a:avLst/>
          </a:prstGeom>
        </p:spPr>
      </p:pic>
      <p:pic>
        <p:nvPicPr>
          <p:cNvPr id="6" name="Picture 5" descr="use_energy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69" y="1188720"/>
            <a:ext cx="4182025" cy="37033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four steps use adsorbed oxygen only; the free-energy path is the same four steps (left: Adv. Energy Mater. 2023, Fig. 1a; right: Chem. Soc. Rev. 2020, Fig. 2a, adapted).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*OH–*OOH scaling gap of about 3.2 eV prevents equal step energies, so one step is always larger.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Result: an intrinsic floor of about 0.37 V — activity cannot be improved within AEM.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1a  ·  Chem. Soc. Rev. 2020, 49, 2196, Fig. 2a (adapted).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II: lattice oxygen (LOM) — fast, but it destroys the surface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lo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07008"/>
            <a:ext cx="2668003" cy="2658336"/>
          </a:xfrm>
          <a:prstGeom prst="rect">
            <a:avLst/>
          </a:prstGeom>
        </p:spPr>
      </p:pic>
      <p:pic>
        <p:nvPicPr>
          <p:cNvPr id="6" name="Picture 5" descr="fig_e_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843" y="1207008"/>
            <a:ext cx="7875028" cy="2658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LOM: lattice oxygen is oxidised and leaves as O₂, so an oxygen vacancy is left behind (Adv. Energy Mater. 2023, Fig. 1b).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It switches on when the oxygen 2p states rise above the metal–oxygen band, close to the Fermi level (Fig. 1e, Mott–Hubbard splitting).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Consequence: the vacancy stays, and the metal is released together with the oxygen.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1b and Fig. 1e.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III: the oxide path (OPM), and COM briefly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o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0" y="1234440"/>
            <a:ext cx="7213600" cy="3246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75320" y="1234440"/>
            <a:ext cx="3273552" cy="17830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COM  (our group)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Light drives electron transfer from the oxygen states to the metal, and the O–O bond forms on the oxygen states — a related route that also avoids the *OOH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3154680"/>
            <a:ext cx="3273552" cy="13258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Reported 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mV, more than 200 h, oxide path mechanism, no oxygen vacancy.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Two adjacent M–O sites couple directly to O₂ (step 3); one O₂ costs four sites and four electrons.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No *OOH (so the AEM limit does not apply) and no vacancy (so no leaching channel) — hence OPM.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deck after the oxide path in Adv. Energy Mater. 2017, 7, 1601275, Fig. 1 (panel I)  ·  COM: Nature 2022, 611, 702; reviewed in Adv. Energy Mater. 2023, 13, 2301391, §2.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Platform: acidic PEM, because that is where the durability problem is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PEM matches renewable electricity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High current density, fast response and high-purity hydrogen; the membrane is acidic, so the anode sees about 1 M proton activity (pH 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Only Ir and Ru oxides survive there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systems can use Ni, Co or Fe oxides. In acid the choice collapses to iridium and ruthenium, and iridium is the scarcest option.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The anode environment decides which elements are allowed, so the project is defined by durability at low noble-metal loading rather than by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PEM electrolysis system review (cell schematic)  ·  Chem. Soc. Rev. 2020, 49, 2196, §4.4.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Element: ruthenium is cheap and active — but it dissolves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Why Ru and not 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RuO₂ is more active than IrO₂ for OER, and ruthenium is far cheaper and more abundant; iridium supply is the ceiling for PEM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1 — over-oxidation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Ruthenium is oxidised beyond +4 to soluble RuO₄ and leaves the electrode.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2 — lattice oxygen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Lattice oxygen participates, a vacancy is left behind, and the metal follows the oxygen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Both descriptions refer to the same surface: the metal redox and the oxygen redox must be controlled together. The proof of stabilisation has to be a dissolution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1g and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Route: target OPM, keep AEM as the fallback, avoid LOM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_volcan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188720"/>
            <a:ext cx="3669945" cy="3024083"/>
          </a:xfrm>
          <a:prstGeom prst="rect">
            <a:avLst/>
          </a:prstGeom>
        </p:spPr>
      </p:pic>
      <p:pic>
        <p:nvPicPr>
          <p:cNvPr id="6" name="Picture 5" descr="fig_d_volcan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785" y="1188720"/>
            <a:ext cx="3828134" cy="30240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188720"/>
            <a:ext cx="2816352" cy="205740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Our ranking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1. OPM — direct O–O coupling, no vacancy.
2. AEM — safe, but capped at 0.37 V.
3. LOM — activity paid for with the surface: avoid.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401568"/>
            <a:ext cx="2816352" cy="16459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 at 10 mA cm⁻², more than 200 h, oxide path, no oxygen vacancy.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Both volcano plots show the same ceiling: activity is set by the adsorption energies of the intermediates, and the scaling relation fixes the height of the volcano.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Breaking that ceiling requires a different route — for us, OPM on a MnO₂-stabilised Ru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1c and Fig. 1d; precedent as reviewed there,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Solution: put Ru into a MnO₂ framework by electrodeposition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73" y="1133856"/>
            <a:ext cx="4427692" cy="352958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94960" y="1133856"/>
            <a:ext cx="6153912" cy="10058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Mn³⁺/Mn⁴⁺ buffers the charge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The MnO₂ framework holds Ru near +4, outside the RuO₄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231136"/>
            <a:ext cx="6153912" cy="13258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metal goes inside the lattice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Electrodeposited MnO₂ oxidises the metal and drives it in, forming M–O–Mn bridges; EXAFS shows the Ru–O–Mn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648456"/>
            <a:ext cx="6153912" cy="100584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Electrodeposition makes it tunable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Deposition charge, current and bath pH set the phase and edge-site density.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Figure: (a) synthesis route; (b) XRD of the Ru₀.₀₃Mn₀.₉₇O₂ series; (c) atomic-resolution STEM;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(d) EDS mapping; (e) intensity profiles; (f) Ru K-edge FT-EXAFS; (g) XANES; (h) Mn 3s XPS.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Our contribution: build it by electrodeposition and prove Ru sits inside the lattice, not on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Nat. Commun. 2026, 17, 7657, Fig. 2  ·  Science 2024, 384, 666, Fig. 1A (precedent with Ir).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Experiment plan: deposit, window, exchange, prove, test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0" y="1024128"/>
            <a:ext cx="1065639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First priority: step 2 — find the MnO₂ host window (Mn²⁺ below, MnO₄⁻ above) before loading 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project: parameters per the group protocol; characterisation and testing practice follow Adv. Energy Mater. 2023 §5.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