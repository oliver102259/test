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365760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5832" y="731520"/>
            <a:ext cx="1463040" cy="9703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1874519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3D7C"/>
                </a:solidFill>
                <a:latin typeface="Arial"/>
              </a:rPr>
              <a:t>Stabilizing Ruthenium through Ru–O–Mn Interfacial Coupling for Acidic Oxygen Evolution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5B6572"/>
                </a:solidFill>
                <a:latin typeface="Arial"/>
              </a:rPr>
              <a:t>Final-year project · Progress review (first presentation)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31920"/>
            <a:ext cx="10698480" cy="45720"/>
          </a:xfrm>
          <a:prstGeom prst="rect">
            <a:avLst/>
          </a:prstGeom>
          <a:solidFill>
            <a:srgbClr val="EF7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187952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Candidate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41879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Zhao Shen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608576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Programme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4608576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NUS–ECUST Joint Programme (MSE 311)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Supervisor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029200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Prof. Xue Junmin, Materials Science and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9824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449824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Yu Junchen, NUSRI-CQ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870448"/>
            <a:ext cx="17830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5B6572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5870448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1F2937"/>
                </a:solidFill>
                <a:latin typeface="Arial"/>
              </a:rPr>
              <a:t>24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Hydrogen: why the world is moving to 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390" y="1051560"/>
            <a:ext cx="10678171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120640"/>
            <a:ext cx="10908792" cy="854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Hydrogen production is about 100 Mt per year and is still dominated by unabated fossil fuels. Low-emission hydrogen from electrolysis is about 1 Mt, i.e. below 1%.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Demand is expected to grow under announced pledges, so the production route — not the molecule — is the bottleneck. Water electrolysis is the route that can be decarbonised, and its cost is set by the anode.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Data: IEA Global Hydrogen Review 2025 and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Making hydrogen: water electrolysis and its two half-reactions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4937759" cy="3639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97880" y="141732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Cathode (HER):  2 H₂O + 2 e⁻ → H₂ + 2 OH⁻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65960"/>
            <a:ext cx="5623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003D7C"/>
                </a:solidFill>
                <a:latin typeface="Arial"/>
              </a:rPr>
              <a:t>Anode (OER):    2 H₂O → O₂ + 4 H⁺ + 4 e⁻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2606040"/>
            <a:ext cx="5623560" cy="132588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OER is the bottleneck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Four electrons and four protons move through several intermediates, so the reaction is slow and carries most of the cell overpotential.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4069080"/>
            <a:ext cx="5623560" cy="105156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Two environments, two material sets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media allow cheap Ni, Co or Fe oxides; acidic media (PEM) require Ir or Ru oxides.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Water splitting is two half-reactions, and the oxygen evolution reaction at the anode limits the whole cell.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Chem. Soc. Rev. 2020, 49, 2196, Fig. 1 (re-rendered at high resolution).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I: adsorbate evolution (AEM) — four steps, one limit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ae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56" y="1188720"/>
            <a:ext cx="3770653" cy="3703320"/>
          </a:xfrm>
          <a:prstGeom prst="rect">
            <a:avLst/>
          </a:prstGeom>
        </p:spPr>
      </p:pic>
      <p:pic>
        <p:nvPicPr>
          <p:cNvPr id="6" name="Picture 5" descr="use_energy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69" y="1188720"/>
            <a:ext cx="4182025" cy="37033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four steps use adsorbed oxygen only; the free-energy path is the same four steps (left: Adv. Energy Mater. 2023, Fig. 3a; right: Chem. Soc. Rev. 2020, Fig. 3a, adapted).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The *OH–*OOH scaling gap of about 3.2 eV prevents equal step energies, so one step is always larger.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Result: an intrinsic floor of about 0.37 V — activity cannot be improved within AEM.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3a  ·  Chem. Soc. Rev. 2020, 49, 2196, Fig. 3a (adapted).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II: lattice oxygen (LOM) — fast, but it destroys the surface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lom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07008"/>
            <a:ext cx="2668003" cy="2658336"/>
          </a:xfrm>
          <a:prstGeom prst="rect">
            <a:avLst/>
          </a:prstGeom>
        </p:spPr>
      </p:pic>
      <p:pic>
        <p:nvPicPr>
          <p:cNvPr id="6" name="Picture 5" descr="fig_e_d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843" y="1207008"/>
            <a:ext cx="7875028" cy="26583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LOM: lattice oxygen is oxidised and leaves as O₂, so an oxygen vacancy is left behind (Adv. Energy Mater. 2023, Fig. 3b).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It switches on when the oxygen 2p states rise above the metal–oxygen band, close to the Fermi level (Fig. 3e, Mott–Hubbard picture).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Consequence: the vacancy stays, and the metal is released together with the oxygen.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3b and Fig. 3e.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Mechanism III: the oxide path (OPM), and COM briefly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four_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34440"/>
            <a:ext cx="7360920" cy="2859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75320" y="1234440"/>
            <a:ext cx="3273552" cy="17830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COM  (our group)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Light drives electron transfer from the oxygen states to the metal, and the O–O bond forms on the oxygen states — a related route that also avoids the *OOH step.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3154680"/>
            <a:ext cx="3273552" cy="13258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Reported 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mV, more than 200 h, oxide path mechanism, no oxygen vacancy.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Panel I is the oxide path: two adjacent metal–oxo sites couple directly to O₂, with no *OOH intermediate and no oxygen vacancy (Adv. Energy Mater. 2016, Fig. 1).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OPM keeps the surface intact while avoiding the *OOH bottleneck, which is why it is the route we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2016, 6, 1601275, Fig. 1  ·  COM: Nature 2022, 611, 702; reviewed in Adv. Energy Mater. 2023, 13, 2301951, §2.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Platform: acidic PEM, because that is where the durability problem is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cand_pemrev_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2" y="1371600"/>
            <a:ext cx="5899354" cy="36575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371600"/>
            <a:ext cx="4599432" cy="164592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PEM matches renewable electricity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High current density, fast response and high-purity hydrogen; the membrane is acidic, so the anode sees about 1 M proton activity (pH 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200400"/>
            <a:ext cx="4599432" cy="178308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Only Ir and Ru oxides survive there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Alkaline systems can use Ni, Co or Fe oxides. In acid the choice collapses to iridium and ruthenium, and iridium is the scarcest option.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5780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The anode environment decides which elements are allowed, so the project is defined by durability at low noble-metal loading rather than by activity.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Panel: PEM electrolysis system review (cell schematic)  ·  Chem. Soc. Rev. 2020, 49, 2196, §4.4.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Element: ruthenium is cheap and active — but it dissolves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3_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45" y="1325880"/>
            <a:ext cx="3498149" cy="37033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257800" y="1325880"/>
            <a:ext cx="6291072" cy="128016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Why Ru and not Ir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RuO₂ is more active than IrO₂ for OER, and ruthenium is far cheaper and more abundant; iridium supply is the ceiling for PEM deployment.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57800" y="274320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1 — over-oxidation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Ruthenium is oxidised beyond +4 to soluble RuO₄ and leaves the electrode.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3931920"/>
            <a:ext cx="6291072" cy="1051560"/>
          </a:xfrm>
          <a:prstGeom prst="roundRect">
            <a:avLst/>
          </a:prstGeom>
          <a:solidFill>
            <a:srgbClr val="FDF2F2"/>
          </a:solidFill>
          <a:ln w="12700">
            <a:solidFill>
              <a:srgbClr val="E8A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800" b="1">
                <a:solidFill>
                  <a:srgbClr val="003D7C"/>
                </a:solidFill>
                <a:latin typeface="Arial"/>
              </a:rPr>
              <a:t>Failure channel 2 — lattice oxygen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F2937"/>
                </a:solidFill>
                <a:latin typeface="Arial"/>
              </a:rPr>
              <a:t>Lattice oxygen participates, a vacancy is left behind, and the metal follows the oxygen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Both descriptions refer to the same surface: the metal redox and the oxygen redox must be controlled together. The proof of stabilisation has to be a dissolution measurement.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3g and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Route: target OPM, keep AEM as the fallback, avoid LOM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c_volcano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79" y="1188720"/>
            <a:ext cx="3669945" cy="3024083"/>
          </a:xfrm>
          <a:prstGeom prst="rect">
            <a:avLst/>
          </a:prstGeom>
        </p:spPr>
      </p:pic>
      <p:pic>
        <p:nvPicPr>
          <p:cNvPr id="6" name="Picture 5" descr="fig_d_volcano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785" y="1188720"/>
            <a:ext cx="3828134" cy="30240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732520" y="1188720"/>
            <a:ext cx="2816352" cy="205740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Our ranking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1. OPM — direct O–O coupling, no vacancy.
2. AEM — safe, but capped at 0.37 V.
3. LOM — activity paid for with the surface: avoid.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401568"/>
            <a:ext cx="2816352" cy="164592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600" b="1">
                <a:solidFill>
                  <a:srgbClr val="003D7C"/>
                </a:solidFill>
                <a:latin typeface="Arial"/>
              </a:rPr>
              <a:t>Precedent</a:t>
            </a:r>
          </a:p>
          <a:p>
            <a:pPr>
              <a:spcBef>
                <a:spcPts val="400"/>
              </a:spcBef>
            </a:pPr>
            <a:r>
              <a:rPr sz="1350">
                <a:solidFill>
                  <a:srgbClr val="1F2937"/>
                </a:solidFill>
                <a:latin typeface="Arial"/>
              </a:rPr>
              <a:t>Ru on α-MnO₂ by cation exchange: 161 mV at 10 mA cm⁻², more than 200 h, oxide path, no oxygen vacancy.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38928"/>
            <a:ext cx="10908792" cy="582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Both volcano plots show the same ceiling: activity is set by the adsorption energies of the intermediates, and the scaling relation fixes the height of the volcano.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Breaking that ceiling requires a different route — for us, OPM on a MnO₂-stabilised Ru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Adv. Energy Mater. 2023, 13, 2301951, Fig. 3c and Fig. 3d; precedent as reviewed there, §6.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937"/>
                </a:solidFill>
                <a:latin typeface="Arial"/>
              </a:rPr>
              <a:t>Solution: put Ru into a MnO₂ framework by electrodeposition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use_nc_fig2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73" y="1133856"/>
            <a:ext cx="4427692" cy="352958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394960" y="1133856"/>
            <a:ext cx="6153912" cy="1005840"/>
          </a:xfrm>
          <a:prstGeom prst="roundRect">
            <a:avLst/>
          </a:prstGeom>
          <a:solidFill>
            <a:srgbClr val="EFF5FB"/>
          </a:solidFill>
          <a:ln w="12700">
            <a:solidFill>
              <a:srgbClr val="CFE0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Mn³⁺/Mn⁴⁺ buffers the charge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The MnO₂ framework holds Ru near +4, outside the RuO₄ window.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94960" y="2231136"/>
            <a:ext cx="6153912" cy="1325880"/>
          </a:xfrm>
          <a:prstGeom prst="roundRect">
            <a:avLst/>
          </a:prstGeom>
          <a:solidFill>
            <a:srgbClr val="E8F5EE"/>
          </a:solidFill>
          <a:ln w="12700">
            <a:solidFill>
              <a:srgbClr val="9A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The metal goes inside the lattice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Electrodeposited MnO₂ oxidises the metal and drives it in, forming M–O–Mn bridges; EXAFS shows the Ru–O–Mn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648456"/>
            <a:ext cx="6153912" cy="1005840"/>
          </a:xfrm>
          <a:prstGeom prst="roundRect">
            <a:avLst/>
          </a:prstGeom>
          <a:solidFill>
            <a:srgbClr val="FFF7EC"/>
          </a:solidFill>
          <a:ln w="12700">
            <a:solidFill>
              <a:srgbClr val="EF7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82296" bIns="82296"/>
          <a:lstStyle/>
          <a:p>
            <a:pPr algn="ctr"/>
            <a:r>
              <a:rPr sz="1700" b="1">
                <a:solidFill>
                  <a:srgbClr val="003D7C"/>
                </a:solidFill>
                <a:latin typeface="Arial"/>
              </a:rPr>
              <a:t>Electrodeposition makes it tunable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F2937"/>
                </a:solidFill>
                <a:latin typeface="Arial"/>
              </a:rPr>
              <a:t>Deposition charge, current and bath pH set the phase and edge-site density.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46320"/>
            <a:ext cx="10908792" cy="838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Figure: (a) synthesis route; (b) XRD of the Ru₀.₀₃Mn₀.₉₇O₂ series; (c) atomic-resolution STEM;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(d) EDS mapping; (e) intensity profiles; (f) Ru K-edge FT-EXAFS; (g) XANES; (h) Mn 3s XPS.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Our contribution: build it by electrodeposition and prove Ru sits inside the lattice, not on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Nat. Commun. 2026, 17, 7657, Fig. 2  ·  Science 2024, 384, 666, Fig. 1A (precedent with Ir).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274320"/>
            <a:ext cx="68580" cy="512064"/>
          </a:xfrm>
          <a:prstGeom prst="rect">
            <a:avLst/>
          </a:prstGeom>
          <a:solidFill>
            <a:srgbClr val="003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3327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Experiment plan: deposit, window, exchange, prove, test</a:t>
            </a:r>
          </a:p>
        </p:txBody>
      </p:sp>
      <p:pic>
        <p:nvPicPr>
          <p:cNvPr id="4" name="Picture 3" descr="logo_nus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37744"/>
            <a:ext cx="822960" cy="545812"/>
          </a:xfrm>
          <a:prstGeom prst="rect">
            <a:avLst/>
          </a:prstGeom>
        </p:spPr>
      </p:pic>
      <p:pic>
        <p:nvPicPr>
          <p:cNvPr id="5" name="Picture 4" descr="fig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0" y="1024128"/>
            <a:ext cx="1065639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49240"/>
            <a:ext cx="10908792" cy="3268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392B"/>
                </a:solidFill>
                <a:latin typeface="Arial"/>
              </a:rPr>
              <a:t>First priority: step 2 — find the MnO₂ host window (Mn²⁺ below, MnO₄⁻ above) before loading Ru.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10241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B6572"/>
                </a:solidFill>
                <a:latin typeface="Arial"/>
              </a:rPr>
              <a:t>Schematic drawn for this project: parameters per the group protocol; characterisation and testing practice follow Adv. Energy Mater. 2023 §5.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00800"/>
            <a:ext cx="62179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>
                <a:solidFill>
                  <a:srgbClr val="1F293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