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6576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731520"/>
            <a:ext cx="1463040" cy="970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87451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3D7C"/>
                </a:solidFill>
                <a:latin typeface="Arial" panose="020B0604020202020204"/>
              </a:rPr>
              <a:t>Stabilizing Ruthenium through Ru–O–Mn Interfacial Coupling for Acidic Oxygen Evolution</a:t>
            </a:r>
            <a:endParaRPr sz="30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5B6572"/>
                </a:solidFill>
                <a:latin typeface="Arial" panose="020B0604020202020204"/>
              </a:rPr>
              <a:t>Final-year project · Progress review (first presentation)</a:t>
            </a:r>
            <a:endParaRPr sz="1800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1248" y="3931920"/>
            <a:ext cx="10698480" cy="45720"/>
          </a:xfrm>
          <a:prstGeom prst="rect">
            <a:avLst/>
          </a:prstGeom>
          <a:solidFill>
            <a:srgbClr val="EF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187952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Candidate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4187952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Zhao Shen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460857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Programme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1760" y="4608576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NUS–ECUST Joint Programme (MSE 311)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Supervisor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51760" y="5029200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Prof. Xue Junmin, Materials Science and Engineering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Mentor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5449824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Yu Junchen, NUSRI-CQ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587044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Date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760" y="5870448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24 September 2026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Hydrogen: why the world is moving to it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0" y="1051560"/>
            <a:ext cx="1067817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908792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About 100 Mt H2 a year; low-emission H2 is still under 1%.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The bottleneck is the route, not the molecule.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Data: IEA Global Hydrogen Review 2025 and 2026.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1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Making hydrogen: two half-reactions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el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937759" cy="3412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141732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Cathode (HER):  2 H₂O + 2 e⁻ → H₂ + 2 OH⁻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Anode (OER):    2 H₂O → O₂ + 4 H⁺ + 4 e⁻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97880" y="2606040"/>
            <a:ext cx="5623560" cy="99288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OER is the bottleneck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Four electrons and four protons: the slow half-reaction.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97880" y="3836670"/>
            <a:ext cx="5623560" cy="992886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Two environments, two material sets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Alkaline: cheap Ni, Co or Fe. Acid (PEM): only Ir or Ru.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The anode limits the whole cell.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Panel: Chem. Soc. Rev. 2020, 49, 2196, Fig. 1 (re-rendered at high resolution).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2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Three mechanisms side by side: what really differs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64608"/>
            <a:ext cx="10908792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The three routes differ in two things: whether lattice oxygen is consumed, and whether one site or two adjacent sites perform the O–O coupling.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We target OPM: direct coupling needs no *OOH and leaves no vacancy, while LOM destroys the surface</a:t>
            </a:r>
            <a:r>
              <a:rPr lang="en-US" sz="1700" b="1">
                <a:solidFill>
                  <a:srgbClr val="C0392B"/>
                </a:solidFill>
                <a:latin typeface="Arial" panose="020B0604020202020204"/>
              </a:rPr>
              <a:t> and AEM has an restriction</a:t>
            </a: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Panels: Nat. Commun. 2023, 14, 354, Fig. 4d (AEM) and Supplementary Figs. 26 (LOM) and 35 (OPM), CC-BY.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3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9" name="图片 8" descr="屏幕截图 2026-09-26 130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505"/>
            <a:ext cx="12191365" cy="3693160"/>
          </a:xfrm>
          <a:prstGeom prst="rect">
            <a:avLst/>
          </a:prstGeom>
        </p:spPr>
      </p:pic>
      <p:sp>
        <p:nvSpPr>
          <p:cNvPr id="5" name="TextBox 6"/>
          <p:cNvSpPr txBox="1"/>
          <p:nvPr/>
        </p:nvSpPr>
        <p:spPr>
          <a:xfrm>
            <a:off x="2796540" y="1828165"/>
            <a:ext cx="1803400" cy="32512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l"/>
            <a:r>
              <a:rPr lang="en-US" altLang="zh-CN" sz="1400" i="1">
                <a:solidFill>
                  <a:schemeClr val="accent4"/>
                </a:solidFill>
                <a:latin typeface="Arial" panose="020B0604020202020204"/>
              </a:rPr>
              <a:t>Dual-site mechanism</a:t>
            </a:r>
            <a:endParaRPr lang="en-US" altLang="zh-CN" sz="1400" i="1">
              <a:solidFill>
                <a:schemeClr val="accent4"/>
              </a:solidFill>
              <a:latin typeface="Arial" panose="020B0604020202020204"/>
            </a:endParaRPr>
          </a:p>
          <a:p>
            <a:pPr algn="l"/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  <a:p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2441575" y="4432935"/>
            <a:ext cx="2517775" cy="45466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l"/>
            <a:r>
              <a:rPr lang="en-US" altLang="zh-CN" sz="1600" i="1">
                <a:solidFill>
                  <a:srgbClr val="00B0F0"/>
                </a:solidFill>
                <a:latin typeface="Arial" panose="020B0604020202020204"/>
              </a:rPr>
              <a:t>Second site catalyzes </a:t>
            </a:r>
            <a:endParaRPr lang="en-US" altLang="zh-CN" sz="1600" i="1">
              <a:solidFill>
                <a:srgbClr val="00B0F0"/>
              </a:solidFill>
              <a:latin typeface="Arial" panose="020B0604020202020204"/>
            </a:endParaRPr>
          </a:p>
          <a:p>
            <a:pPr algn="l"/>
            <a:r>
              <a:rPr lang="en-US" altLang="zh-CN" sz="1600" i="1">
                <a:solidFill>
                  <a:srgbClr val="00B0F0"/>
                </a:solidFill>
                <a:latin typeface="Arial" panose="020B0604020202020204"/>
              </a:rPr>
              <a:t>the second H2O</a:t>
            </a:r>
            <a:endParaRPr lang="en-US" altLang="zh-CN" sz="1600" i="1">
              <a:solidFill>
                <a:srgbClr val="00B0F0"/>
              </a:solidFill>
              <a:latin typeface="Arial" panose="020B0604020202020204"/>
            </a:endParaRPr>
          </a:p>
          <a:p>
            <a:pPr algn="l"/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  <a:p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946785" y="2973070"/>
            <a:ext cx="1803400" cy="32512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Lattice oxygen does not 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participate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959350" y="2973070"/>
            <a:ext cx="1803400" cy="4559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Lattice oxygen does not 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participate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6762750" y="1271270"/>
            <a:ext cx="1958340" cy="4559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O catalyzes the 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second H2O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l"/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  <a:p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7029450" y="4356735"/>
            <a:ext cx="2089785" cy="4559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OV catalyzes the 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second H2O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l"/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  <a:p>
            <a:endParaRPr lang="en-US" altLang="zh-CN"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9077960" y="2973070"/>
            <a:ext cx="1803400" cy="4559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Lattice oxygen  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r>
              <a:rPr lang="en-US" altLang="zh-CN" sz="1400" i="1">
                <a:solidFill>
                  <a:srgbClr val="00B0F0"/>
                </a:solidFill>
                <a:latin typeface="Arial" panose="020B0604020202020204"/>
              </a:rPr>
              <a:t>participates</a:t>
            </a:r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  <a:p>
            <a:pPr algn="ctr"/>
            <a:endParaRPr lang="en-US" altLang="zh-CN" sz="1400" i="1">
              <a:solidFill>
                <a:srgbClr val="00B0F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Mechanism I: AEM and its 0.37 V ceiling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energy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96" y="1234440"/>
            <a:ext cx="3665726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234440"/>
            <a:ext cx="4325112" cy="716915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The four steps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One site: H2O -&gt; *OH -&gt; *O -&gt; *OOH -&gt; O2.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23760" y="2518283"/>
            <a:ext cx="4325112" cy="944499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Why it is capped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*OH and *OOH are locked together by a ~3.2 eV scaling gap.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864608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Ideal steps are equal; real steps never are.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Floor ~ 0.37 V: AEM cannot go below it.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Chem. Soc. Rev. 2020, 49, 2196, Fig. 2a (adapted)  ·  floor from Adv. Energy Mater. 2023, 13, 2301391, §3.2.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4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Mechanism II: LOM pays with the surface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e_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766559" cy="2284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188720"/>
            <a:ext cx="3867912" cy="944499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When it switches on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When O 2p rises to E_F, lattice O leaves as O2.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80960" y="2700147"/>
            <a:ext cx="3867912" cy="944499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What is left behind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Vacancy left behind -&gt; the metal dissolves in acid.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864608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Mott-Hubbard: the O 2p band rises towards E_F.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LOM buys activity with the surface.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Adv. Energy Mater. 2023, 13, 2301391, Fig. 1e (Mott–Hubbard picture) and §4; vacancy-to-dissolution link as reviewed there, §6.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5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Platform: why acidic PEM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cand_pemrev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" y="1371600"/>
            <a:ext cx="5899354" cy="3657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599432" cy="99288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PEM matches renewable electricity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High current density; the anode sees ~1 M H+ (pH 0).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49440" y="2931414"/>
            <a:ext cx="4599432" cy="992886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Only Ir and Ru oxides survive there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In acid only Ir or Ru survive - and Ir is the scarcest.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This project is about durability at low noble-metal loading.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Panel: PEM electrolysis system review (cell schematic)  ·  Chem. Soc. Rev. 2020, 49, 2196, §4.4.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6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Element: Ru is active - but it dissolves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3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45" y="1325880"/>
            <a:ext cx="3498149" cy="37033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25880"/>
            <a:ext cx="6291072" cy="749045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Why Ru and not Ir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More active than IrO2, far cheaper, more abundant.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57800" y="2641853"/>
            <a:ext cx="6291072" cy="749045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Failure channel 1 — over-oxidation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Ru above +4 becomes soluble RuO4 and leaves.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57800" y="3957826"/>
            <a:ext cx="6291072" cy="749045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Failure channel 2 — lattice oxygen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Lattice O leaves -&gt; vacancy -&gt; metal follows.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Both channels act together: stability is proved by dissolution numbers.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Adv. Energy Mater. 2023, 13, 2301391, Fig. 1g and §6  ·  Re-doped RuO₂: Nat. Commun. 2023, 14, 354.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7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Solution: Ru inside a MnO2 framework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nc_fig2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1134110"/>
            <a:ext cx="4772025" cy="38042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94960" y="1133856"/>
            <a:ext cx="6153912" cy="716915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Mn³⁺/Mn⁴⁺ buffers the charge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Holds Ru near +4 - outside the RuO4 window.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94960" y="2417699"/>
            <a:ext cx="6153912" cy="716915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The metal goes inside the lattice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It drives Ru in, forming M-O-Mn bridges.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94960" y="3701542"/>
            <a:ext cx="6153912" cy="716915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Electrodeposition makes it tunable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Charge, current and bath pH set the phase.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280660"/>
            <a:ext cx="10908792" cy="83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Fig. 2: synthesis, structure and spectroscopy (a-h).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Our job: electrodeposit it and prove Ru sits inside.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Nat. Commun. 2026, 17, 7657, Fig. 2  ·  Science 2024, 384, 666, Fig. 1A (precedent with Ir).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39677" y="6400800"/>
            <a:ext cx="27495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>
                <a:solidFill>
                  <a:srgbClr val="1F2937"/>
                </a:solidFill>
                <a:latin typeface="Arial" panose="020B0604020202020204"/>
              </a:rPr>
              <a:t>8</a:t>
            </a:r>
            <a:endParaRPr lang="en-US"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 panose="020B0604020202020204"/>
              </a:rPr>
              <a:t>Experiment plan: deposit, window, exchange, prove, test</a:t>
            </a:r>
            <a:endParaRPr sz="26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859790"/>
            <a:ext cx="11718290" cy="4396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First priority: the host window (step 2).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Schematic drawn for this project: parameters per the group protocol; characterisation and testing practice follow Adv. Energy Mater. 2023 §5.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39677" y="6400800"/>
            <a:ext cx="27495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>
                <a:solidFill>
                  <a:srgbClr val="1F2937"/>
                </a:solidFill>
                <a:latin typeface="Arial" panose="020B0604020202020204"/>
              </a:rPr>
              <a:t>9</a:t>
            </a:r>
            <a:endParaRPr lang="en-US"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5763</Words>
  <Application>WPS 演示</Application>
  <PresentationFormat>On-screen Show (4:3)</PresentationFormat>
  <Paragraphs>178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quote-cjk-patch</vt:lpstr>
      <vt:lpstr>AMGDT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赵申</cp:lastModifiedBy>
  <cp:revision>8</cp:revision>
  <dcterms:created xsi:type="dcterms:W3CDTF">2013-01-27T09:14:00Z</dcterms:created>
  <dcterms:modified xsi:type="dcterms:W3CDTF">2026-09-28T09:04:55Z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A8F25E1678A14E62B77E89869D102FED_13</vt:lpwstr>
  </property>
  <property fmtid="{D5CDD505-2E9C-101B-9397-08002B2CF9AE}" pid="3" name="KSOProductBuildVer">
    <vt:lpwstr>2052-12.1.0.28599</vt:lpwstr>
  </property>
</Properties>
</file>